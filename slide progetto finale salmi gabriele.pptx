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F143F98-B12F-4374-9B2F-9BB133ADDB1E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287F437-EBFB-4822-94EE-A25E3EDEC50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FEAFF4-D851-4CBC-AB1E-54DD08BD5B1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7D22EB-CF52-4AD6-A0AA-6494641941A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4EE0B3-9E58-43E6-84BB-0CE620F2B80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0F5B6D-0420-4E36-B8E9-98EE4D122EB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B6EF34-E6CE-4615-B8DA-953EF43FB89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BA3F1CC-5194-415B-A001-A5DF0F45919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DEC4FA0-DAA5-4F51-84D1-B39F900F07E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F3AD93-CCDC-4BF1-9133-329096B26C8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EA7E9C7-9B11-4B37-B4B5-A2EC9F1700BD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8A4469-FC0B-45B6-B4C7-4553E2733CCB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86A1A0-152D-4E03-A998-8C1939470C1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F3EE8A-9DF2-4E60-B4BE-CC0FFB329C6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BEEC4D-B088-4835-9AB6-80E7C1045AFD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16A707-ECE1-4FC9-B7A0-7EAC6A3C020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AAA507-B488-4DC9-98E6-A0C846B6578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7B4DC6-A144-4DC3-92C1-D30468450762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32624F-D521-42FE-8A79-56458BD67EB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A67B18-1E4E-43A6-8906-D3E08D2F94D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6CE020-59ED-4803-AC38-AAD726EAC929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D88CFF-11E0-4C81-87C7-F174C5FF0E2C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2DB2C1-220C-47E3-B9E6-C6B12FA5114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2A11B0-C77F-4282-8B70-0E1128DA1BB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pPr indent="0">
              <a:buNone/>
            </a:pPr>
            <a:r>
              <a:rPr b="0" lang="it-IT" sz="52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BA0D47-BD62-44DF-8D34-5C941F4F933B}" type="slidenum">
              <a:rPr b="0" lang="it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4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4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4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4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indent="0">
              <a:buNone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Fai clic per modificare il formato del testo della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4A4987-9732-422D-9572-E2E557F5629B}" type="slidenum">
              <a:rPr b="0" lang="it" sz="1000" spc="-1" strike="noStrike">
                <a:solidFill>
                  <a:schemeClr val="dk2"/>
                </a:solidFill>
                <a:latin typeface="Arial"/>
                <a:ea typeface="Arial"/>
              </a:rPr>
              <a:t>&lt;numero&gt;</a:t>
            </a:fld>
            <a:endParaRPr b="0" lang="it-IT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5200" spc="-1" strike="noStrike">
                <a:solidFill>
                  <a:schemeClr val="dk1"/>
                </a:solidFill>
                <a:latin typeface="Arial"/>
                <a:ea typeface="Arial"/>
              </a:rPr>
              <a:t>Salmi Gabriele progetto finale </a:t>
            </a:r>
            <a:endParaRPr b="0" lang="it-IT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2800" spc="-1" strike="noStrike">
                <a:solidFill>
                  <a:schemeClr val="dk2"/>
                </a:solidFill>
                <a:latin typeface="Arial"/>
                <a:ea typeface="Arial"/>
              </a:rPr>
              <a:t>dapt-26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2800" spc="-1" strike="noStrike">
                <a:solidFill>
                  <a:schemeClr val="dk1"/>
                </a:solidFill>
                <a:latin typeface="Arial"/>
                <a:ea typeface="Arial"/>
              </a:rPr>
              <a:t>Analisi Esplorativa (EDA) e Outlier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25988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2000"/>
          </a:bodyPr>
          <a:p>
            <a:pPr marL="483480" indent="-335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Sono stati analizzati i dati degli incidenti stradali 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83480" indent="-335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Durante l'EDA, ho notato dei valori anomali che ho affrontato nel seguente modo: 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83480" indent="-335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Affinamento: Si è passati a un fattore 3.0 per identificare solo gli outlier estremi, riducendo le rimozioni al 9.08% del dataset.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83480" indent="-335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Trend Temporale: Visualizzando l'evoluzione degli incidenti, è emersa un'anomalia nel dato del 2024, risultato graficamente "schizzato" in alto.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oogle Shape;62;p14" descr=""/>
          <p:cNvPicPr/>
          <p:nvPr/>
        </p:nvPicPr>
        <p:blipFill>
          <a:blip r:embed="rId1"/>
          <a:stretch/>
        </p:blipFill>
        <p:spPr>
          <a:xfrm>
            <a:off x="4660920" y="1017720"/>
            <a:ext cx="4266720" cy="193788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63;p14" descr=""/>
          <p:cNvPicPr/>
          <p:nvPr/>
        </p:nvPicPr>
        <p:blipFill>
          <a:blip r:embed="rId2"/>
          <a:stretch/>
        </p:blipFill>
        <p:spPr>
          <a:xfrm>
            <a:off x="5148720" y="3130560"/>
            <a:ext cx="3291120" cy="173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2800" spc="-1" strike="noStrike">
                <a:solidFill>
                  <a:schemeClr val="dk1"/>
                </a:solidFill>
                <a:latin typeface="Arial"/>
                <a:ea typeface="Arial"/>
              </a:rPr>
              <a:t>Regressione Lineare e Test di Ipotesi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25988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5000"/>
          </a:bodyPr>
          <a:p>
            <a:pPr marL="419760" indent="-307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Regressione: È stato costruito un modello per calcolare la pendenza del trend dal (2001-2023). La retta di regressione ha mostrato una pendenza negativa, confermando una diminuzione costante degli incidenti.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9760" indent="-307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Test di Ipotesi: Abbiamo eseguito un test sulla significatività della pendenza. Con un p-value inferiore a 0.05, abbiamo rifiutato l'ipotesi nulla, stabilendo che il calo degli incidenti è statisticamente significativo e non dovuto al caso.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70;p15" descr=""/>
          <p:cNvPicPr/>
          <p:nvPr/>
        </p:nvPicPr>
        <p:blipFill>
          <a:blip r:embed="rId1"/>
          <a:stretch/>
        </p:blipFill>
        <p:spPr>
          <a:xfrm>
            <a:off x="4724280" y="1170000"/>
            <a:ext cx="4266720" cy="220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2800" spc="-1" strike="noStrike">
                <a:solidFill>
                  <a:schemeClr val="dk1"/>
                </a:solidFill>
                <a:latin typeface="Arial"/>
                <a:ea typeface="Arial"/>
              </a:rPr>
              <a:t>Clustering (K-Means)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58200" y="1083960"/>
            <a:ext cx="425988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1000"/>
          </a:bodyPr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Infine, abbiamo segmentato le aree geografiche per capirne i diversi profili di rischio: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Metodo del Gomito: È stato utilizzato per identificare il numero ottimale di gruppi, fissato a  k=4 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Analisi dei Cluster: Il modello ha suddiviso le aree in quattro categorie basate su volume medio e variabilità (deviazione standard):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Cluster 0 (Rosso): Aree a basso rischio e alta stabilità.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Cluster 1 (Viola): Criticità moderata.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Cluster 3 (Blu): Aree con volumi sostenuti e fluttuazioni evidenti.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18320" indent="-2901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Cluster 2 (Verde): Zone critiche con i volumi più alti e forte instabilità annuale.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Google Shape;77;p16" descr=""/>
          <p:cNvPicPr/>
          <p:nvPr/>
        </p:nvPicPr>
        <p:blipFill>
          <a:blip r:embed="rId1"/>
          <a:stretch/>
        </p:blipFill>
        <p:spPr>
          <a:xfrm>
            <a:off x="4724280" y="1170000"/>
            <a:ext cx="4266720" cy="263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" sz="2800" spc="-1" strike="noStrike">
                <a:solidFill>
                  <a:schemeClr val="dk1"/>
                </a:solidFill>
                <a:latin typeface="Arial"/>
                <a:ea typeface="Arial"/>
              </a:rPr>
              <a:t>Conclusioni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25988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i maggiori comuni dove investire in sicurezza stradale sono i seguenti riportati nel grafico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it" sz="1800" spc="-1" strike="noStrike">
                <a:solidFill>
                  <a:schemeClr val="dk2"/>
                </a:solidFill>
                <a:latin typeface="Arial"/>
                <a:ea typeface="Arial"/>
              </a:rPr>
              <a:t>dal 2000 ad oggi è stat registrata una diminuzione degli incidenti del 36,67% 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Google Shape;84;p17" descr=""/>
          <p:cNvPicPr/>
          <p:nvPr/>
        </p:nvPicPr>
        <p:blipFill>
          <a:blip r:embed="rId1"/>
          <a:stretch/>
        </p:blipFill>
        <p:spPr>
          <a:xfrm>
            <a:off x="4724280" y="1170000"/>
            <a:ext cx="4266720" cy="340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LibreOffice/7.5.5.2$Windows_X86_64 LibreOffice_project/ca8fe7424262805f223b9a2334bc7181abbcbf5e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2026-05-22T18:42:01Z</dcterms:modified>
  <cp:revision>2</cp:revision>
  <dc:subject/>
  <dc:title/>
</cp:coreProperties>
</file>